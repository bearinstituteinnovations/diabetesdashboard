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6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7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1333" y="2625726"/>
            <a:ext cx="10363200" cy="688975"/>
          </a:xfrm>
        </p:spPr>
        <p:txBody>
          <a:bodyPr>
            <a:noAutofit/>
          </a:bodyPr>
          <a:lstStyle>
            <a:lvl1pPr>
              <a:defRPr sz="4800">
                <a:solidFill>
                  <a:srgbClr val="003DA5"/>
                </a:solidFill>
              </a:defRPr>
            </a:lvl1pPr>
          </a:lstStyle>
          <a:p>
            <a:r>
              <a:rPr lang="en-US" dirty="0"/>
              <a:t>Click to add Master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1333" y="3314700"/>
            <a:ext cx="8534400" cy="45720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aseline="0">
                <a:solidFill>
                  <a:srgbClr val="786A6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Master subtitle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737600" y="5715000"/>
            <a:ext cx="2844800" cy="99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4808921"/>
            <a:ext cx="4775200" cy="457200"/>
          </a:xfrm>
        </p:spPr>
        <p:txBody>
          <a:bodyPr anchor="ctr">
            <a:normAutofit/>
          </a:bodyPr>
          <a:lstStyle>
            <a:lvl1pPr marL="0" indent="0">
              <a:buNone/>
              <a:defRPr sz="2400" b="0" baseline="0">
                <a:solidFill>
                  <a:srgbClr val="786A65"/>
                </a:solidFill>
              </a:defRPr>
            </a:lvl1pPr>
          </a:lstStyle>
          <a:p>
            <a:pPr lvl="0"/>
            <a:r>
              <a:rPr lang="en-US" dirty="0"/>
              <a:t>Click to add presenter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5274445"/>
            <a:ext cx="4775200" cy="211956"/>
          </a:xfrm>
        </p:spPr>
        <p:txBody>
          <a:bodyPr anchor="ctr">
            <a:noAutofit/>
          </a:bodyPr>
          <a:lstStyle>
            <a:lvl1pPr marL="0" indent="0">
              <a:buNone/>
              <a:defRPr sz="2133" b="0" i="1" baseline="0">
                <a:solidFill>
                  <a:srgbClr val="786A65"/>
                </a:solidFill>
              </a:defRPr>
            </a:lvl1pPr>
          </a:lstStyle>
          <a:p>
            <a:pPr lvl="0"/>
            <a:r>
              <a:rPr lang="en-US" dirty="0"/>
              <a:t>Click to add presenter title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1" y="4419600"/>
            <a:ext cx="2656313" cy="152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6400" y="533400"/>
            <a:ext cx="113792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2413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1" y="3355975"/>
            <a:ext cx="12192001" cy="377827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-1" y="2819401"/>
            <a:ext cx="12192001" cy="536575"/>
          </a:xfrm>
          <a:prstGeom prst="rect">
            <a:avLst/>
          </a:prstGeom>
          <a:solidFill>
            <a:srgbClr val="786A65"/>
          </a:solidFill>
          <a:ln>
            <a:solidFill>
              <a:srgbClr val="786A65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406400" y="76200"/>
            <a:ext cx="112776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8534400" y="5638800"/>
            <a:ext cx="31496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3355977"/>
            <a:ext cx="5791200" cy="377825"/>
          </a:xfrm>
        </p:spPr>
        <p:txBody>
          <a:bodyPr>
            <a:normAutofit/>
          </a:bodyPr>
          <a:lstStyle>
            <a:lvl1pPr marL="0" indent="0">
              <a:buNone/>
              <a:defRPr sz="18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Master 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2828929"/>
            <a:ext cx="6620933" cy="536575"/>
          </a:xfrm>
        </p:spPr>
        <p:txBody>
          <a:bodyPr anchor="ctr">
            <a:noAutofit/>
          </a:bodyPr>
          <a:lstStyle>
            <a:lvl1pPr marL="0" indent="0">
              <a:buNone/>
              <a:defRPr sz="3733">
                <a:solidFill>
                  <a:schemeClr val="bg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Master 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733802"/>
            <a:ext cx="12192000" cy="76199"/>
          </a:xfrm>
          <a:prstGeom prst="rect">
            <a:avLst/>
          </a:prstGeom>
          <a:solidFill>
            <a:srgbClr val="003D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406400" y="533400"/>
            <a:ext cx="113792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0" y="812802"/>
            <a:ext cx="2946400" cy="169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05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1" y="1746247"/>
            <a:ext cx="12192001" cy="377827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-1" y="2"/>
            <a:ext cx="12192001" cy="1746247"/>
          </a:xfrm>
          <a:prstGeom prst="rect">
            <a:avLst/>
          </a:prstGeom>
          <a:solidFill>
            <a:srgbClr val="786A65"/>
          </a:solidFill>
          <a:ln>
            <a:solidFill>
              <a:srgbClr val="786A6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8636000" y="5702300"/>
            <a:ext cx="2980267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4" y="1746249"/>
            <a:ext cx="12192001" cy="377825"/>
          </a:xfrm>
        </p:spPr>
        <p:txBody>
          <a:bodyPr>
            <a:normAutofit/>
          </a:bodyPr>
          <a:lstStyle>
            <a:lvl1pPr marL="0" indent="0" algn="r">
              <a:buNone/>
              <a:defRPr sz="1867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Master 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0" y="762002"/>
            <a:ext cx="12192000" cy="536575"/>
          </a:xfrm>
        </p:spPr>
        <p:txBody>
          <a:bodyPr anchor="ctr">
            <a:noAutofit/>
          </a:bodyPr>
          <a:lstStyle>
            <a:lvl1pPr marL="0" indent="0" algn="r">
              <a:buNone/>
              <a:defRPr sz="3733">
                <a:solidFill>
                  <a:schemeClr val="bg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Master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149475"/>
            <a:ext cx="12192000" cy="76199"/>
          </a:xfrm>
          <a:prstGeom prst="rect">
            <a:avLst/>
          </a:prstGeom>
          <a:solidFill>
            <a:srgbClr val="003DA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755" y="4546602"/>
            <a:ext cx="3054759" cy="175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65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 baseline="0"/>
            </a:lvl2pPr>
            <a:lvl3pPr>
              <a:defRPr sz="2133"/>
            </a:lvl3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6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143001"/>
            <a:ext cx="5384800" cy="4525963"/>
          </a:xfrm>
        </p:spPr>
        <p:txBody>
          <a:bodyPr/>
          <a:lstStyle>
            <a:lvl1pPr>
              <a:defRPr sz="2667"/>
            </a:lvl1pPr>
            <a:lvl2pPr>
              <a:defRPr sz="2400" baseline="0"/>
            </a:lvl2pPr>
            <a:lvl3pPr>
              <a:defRPr sz="2133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143001"/>
            <a:ext cx="5384800" cy="4525963"/>
          </a:xfrm>
        </p:spPr>
        <p:txBody>
          <a:bodyPr/>
          <a:lstStyle>
            <a:lvl1pPr>
              <a:defRPr sz="2667" baseline="0"/>
            </a:lvl1pPr>
            <a:lvl2pPr>
              <a:defRPr sz="2400" baseline="0"/>
            </a:lvl2pPr>
            <a:lvl3pPr>
              <a:defRPr sz="2133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2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143001"/>
            <a:ext cx="5384800" cy="4525963"/>
          </a:xfrm>
        </p:spPr>
        <p:txBody>
          <a:bodyPr/>
          <a:lstStyle>
            <a:lvl1pPr>
              <a:defRPr sz="2667"/>
            </a:lvl1pPr>
            <a:lvl2pPr>
              <a:defRPr sz="2400" baseline="0"/>
            </a:lvl2pPr>
            <a:lvl3pPr>
              <a:defRPr sz="2133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  <a:p>
            <a:pPr lvl="2"/>
            <a:endParaRPr lang="en-US" dirty="0"/>
          </a:p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143001"/>
            <a:ext cx="5384800" cy="4525963"/>
          </a:xfrm>
        </p:spPr>
        <p:txBody>
          <a:bodyPr/>
          <a:lstStyle>
            <a:lvl1pPr>
              <a:defRPr sz="2667" baseline="0"/>
            </a:lvl1pPr>
            <a:lvl2pPr>
              <a:defRPr sz="2400" baseline="0"/>
            </a:lvl2pPr>
            <a:lvl3pPr>
              <a:defRPr sz="2133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  <a:p>
            <a:pPr lvl="2"/>
            <a:endParaRPr lang="en-US" dirty="0"/>
          </a:p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143001"/>
            <a:ext cx="5384800" cy="1752600"/>
          </a:xfrm>
        </p:spPr>
        <p:txBody>
          <a:bodyPr/>
          <a:lstStyle>
            <a:lvl1pPr>
              <a:defRPr sz="2667" baseline="0"/>
            </a:lvl1pPr>
            <a:lvl2pPr>
              <a:defRPr sz="2400" baseline="0"/>
            </a:lvl2pPr>
            <a:lvl3pPr>
              <a:defRPr sz="2133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143001"/>
            <a:ext cx="5384800" cy="1752600"/>
          </a:xfrm>
        </p:spPr>
        <p:txBody>
          <a:bodyPr/>
          <a:lstStyle>
            <a:lvl1pPr>
              <a:defRPr sz="2667"/>
            </a:lvl1pPr>
            <a:lvl2pPr>
              <a:defRPr sz="2400" baseline="0"/>
            </a:lvl2pPr>
            <a:lvl3pPr>
              <a:defRPr sz="2133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 </a:t>
            </a:r>
          </a:p>
          <a:p>
            <a:pPr lvl="2"/>
            <a:r>
              <a:rPr lang="en-US" dirty="0"/>
              <a:t>Third bullet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971800"/>
            <a:ext cx="10972800" cy="2667000"/>
          </a:xfrm>
          <a:ln w="12700">
            <a:solidFill>
              <a:srgbClr val="786A65"/>
            </a:solidFill>
          </a:ln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202666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833" y="1101725"/>
            <a:ext cx="5386917" cy="650875"/>
          </a:xfrm>
          <a:solidFill>
            <a:srgbClr val="786A6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933" b="1">
                <a:solidFill>
                  <a:schemeClr val="bg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3833" y="1828800"/>
            <a:ext cx="5386917" cy="4038600"/>
          </a:xfrm>
          <a:ln>
            <a:noFill/>
          </a:ln>
        </p:spPr>
        <p:txBody>
          <a:bodyPr/>
          <a:lstStyle>
            <a:lvl1pPr>
              <a:defRPr sz="2400"/>
            </a:lvl1pPr>
            <a:lvl2pPr>
              <a:defRPr sz="2133" baseline="0"/>
            </a:lvl2pPr>
            <a:lvl3pPr>
              <a:defRPr sz="1867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2" y="1101725"/>
            <a:ext cx="5389033" cy="650875"/>
          </a:xfrm>
          <a:solidFill>
            <a:srgbClr val="786A6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933" b="1">
                <a:solidFill>
                  <a:schemeClr val="bg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7602" y="1828800"/>
            <a:ext cx="5389033" cy="4038600"/>
          </a:xfrm>
          <a:ln>
            <a:noFill/>
          </a:ln>
        </p:spPr>
        <p:txBody>
          <a:bodyPr/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 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7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13835" y="1101725"/>
            <a:ext cx="4466167" cy="650875"/>
          </a:xfrm>
          <a:solidFill>
            <a:srgbClr val="786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4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Add Callout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3835" y="1828800"/>
            <a:ext cx="4466167" cy="403860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/>
          <a:lstStyle>
            <a:lvl1pPr>
              <a:defRPr sz="2133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67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283202" y="1143000"/>
            <a:ext cx="6303433" cy="4724400"/>
          </a:xfrm>
          <a:ln>
            <a:noFill/>
          </a:ln>
        </p:spPr>
        <p:txBody>
          <a:bodyPr/>
          <a:lstStyle>
            <a:lvl1pPr>
              <a:defRPr sz="2400" baseline="0"/>
            </a:lvl1pPr>
            <a:lvl2pPr>
              <a:defRPr sz="2133" baseline="0"/>
            </a:lvl2pPr>
            <a:lvl3pPr>
              <a:defRPr sz="1867" baseline="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  <a:p>
            <a:pPr lvl="2"/>
            <a:endParaRPr lang="en-US" dirty="0"/>
          </a:p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4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029700" y="5562600"/>
            <a:ext cx="23368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066800"/>
            <a:ext cx="10972800" cy="4648200"/>
          </a:xfrm>
          <a:ln w="19050">
            <a:solidFill>
              <a:srgbClr val="786A65"/>
            </a:solidFill>
          </a:ln>
        </p:spPr>
        <p:txBody>
          <a:bodyPr>
            <a:normAutofit/>
          </a:bodyPr>
          <a:lstStyle>
            <a:lvl1pPr>
              <a:defRPr sz="2133" baseline="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28732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 hasCustomPrompt="1"/>
          </p:nvPr>
        </p:nvSpPr>
        <p:spPr>
          <a:xfrm>
            <a:off x="5384800" y="1219200"/>
            <a:ext cx="6197600" cy="2057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Subhead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4"/>
          </p:nvPr>
        </p:nvSpPr>
        <p:spPr>
          <a:xfrm>
            <a:off x="5384800" y="3505200"/>
            <a:ext cx="6197600" cy="2057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609600" y="1219200"/>
            <a:ext cx="4572000" cy="2057400"/>
          </a:xfrm>
          <a:ln w="19050">
            <a:solidFill>
              <a:srgbClr val="003DA5"/>
            </a:solidFill>
          </a:ln>
        </p:spPr>
        <p:txBody>
          <a:bodyPr>
            <a:normAutofit/>
          </a:bodyPr>
          <a:lstStyle>
            <a:lvl1pPr>
              <a:defRPr sz="2667"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/>
          <p:cNvSpPr>
            <a:spLocks noGrp="1"/>
          </p:cNvSpPr>
          <p:nvPr>
            <p:ph type="pic" sz="quarter" idx="16"/>
          </p:nvPr>
        </p:nvSpPr>
        <p:spPr>
          <a:xfrm>
            <a:off x="609600" y="3505200"/>
            <a:ext cx="4572000" cy="2057400"/>
          </a:xfrm>
          <a:ln w="19050">
            <a:solidFill>
              <a:srgbClr val="003DA5"/>
            </a:solidFill>
          </a:ln>
        </p:spPr>
        <p:txBody>
          <a:bodyPr>
            <a:normAutofit/>
          </a:bodyPr>
          <a:lstStyle>
            <a:lvl1pPr>
              <a:defRPr sz="2667"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563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723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533400"/>
            <a:ext cx="110744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689600" y="533401"/>
            <a:ext cx="5901267" cy="5334000"/>
          </a:xfrm>
        </p:spPr>
        <p:txBody>
          <a:bodyPr/>
          <a:lstStyle>
            <a:lvl1pPr>
              <a:defRPr sz="2400" baseline="0"/>
            </a:lvl1pPr>
            <a:lvl2pPr>
              <a:defRPr sz="2400" baseline="0"/>
            </a:lvl2pPr>
            <a:lvl3pPr>
              <a:defRPr sz="2133" baseline="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1"/>
            <a:r>
              <a:rPr lang="en-US" dirty="0"/>
              <a:t>Secondary text bullet </a:t>
            </a:r>
          </a:p>
          <a:p>
            <a:pPr lvl="2"/>
            <a:r>
              <a:rPr lang="en-US" dirty="0"/>
              <a:t>Third bullet</a:t>
            </a:r>
          </a:p>
          <a:p>
            <a:pPr lvl="0"/>
            <a:r>
              <a:rPr lang="en-US" dirty="0"/>
              <a:t>Subhead Two</a:t>
            </a:r>
          </a:p>
          <a:p>
            <a:pPr lvl="1"/>
            <a:r>
              <a:rPr lang="en-US" dirty="0"/>
              <a:t>Secondary text bullet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bullet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533400"/>
            <a:ext cx="4978400" cy="5334000"/>
          </a:xfrm>
          <a:ln w="19050">
            <a:solidFill>
              <a:srgbClr val="786A65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021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6400" y="533400"/>
            <a:ext cx="113792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9144000" y="5638800"/>
            <a:ext cx="2032000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000" y="685800"/>
            <a:ext cx="11277600" cy="5562600"/>
          </a:xfrm>
        </p:spPr>
        <p:txBody>
          <a:bodyPr>
            <a:normAutofit/>
          </a:bodyPr>
          <a:lstStyle>
            <a:lvl1pPr marL="0" indent="0" algn="ctr">
              <a:buNone/>
              <a:defRPr sz="2667" baseline="0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2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146050"/>
            <a:ext cx="12192000" cy="2749551"/>
            <a:chOff x="457200" y="146050"/>
            <a:chExt cx="8229600" cy="2159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/>
            <p:cNvSpPr/>
            <p:nvPr userDrawn="1"/>
          </p:nvSpPr>
          <p:spPr>
            <a:xfrm>
              <a:off x="457200" y="146050"/>
              <a:ext cx="6781800" cy="215900"/>
            </a:xfrm>
            <a:prstGeom prst="rect">
              <a:avLst/>
            </a:prstGeom>
            <a:solidFill>
              <a:srgbClr val="786A65"/>
            </a:solidFill>
            <a:ln>
              <a:solidFill>
                <a:srgbClr val="786A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8305800" y="146050"/>
              <a:ext cx="381000" cy="215900"/>
            </a:xfrm>
            <a:prstGeom prst="rect">
              <a:avLst/>
            </a:prstGeom>
            <a:solidFill>
              <a:srgbClr val="003DA5"/>
            </a:solidFill>
            <a:ln>
              <a:solidFill>
                <a:srgbClr val="003D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7156450" y="146050"/>
              <a:ext cx="1301750" cy="215900"/>
            </a:xfrm>
            <a:prstGeom prst="rect">
              <a:avLst/>
            </a:prstGeom>
            <a:solidFill>
              <a:srgbClr val="DA291C"/>
            </a:solidFill>
            <a:ln>
              <a:solidFill>
                <a:srgbClr val="DA29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756" y="957263"/>
            <a:ext cx="10972800" cy="563563"/>
          </a:xfrm>
          <a:ln>
            <a:noFill/>
          </a:ln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Connecting all Children to the best health and care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5181602" y="3352800"/>
            <a:ext cx="6445956" cy="457200"/>
          </a:xfrm>
        </p:spPr>
        <p:txBody>
          <a:bodyPr>
            <a:normAutofit/>
          </a:bodyPr>
          <a:lstStyle>
            <a:lvl1pPr marL="0" indent="0" algn="r">
              <a:buNone/>
              <a:defRPr sz="1867" b="1" i="1" baseline="0"/>
            </a:lvl1pPr>
          </a:lstStyle>
          <a:p>
            <a:pPr lvl="0"/>
            <a:r>
              <a:rPr lang="en-US" dirty="0"/>
              <a:t>Because every child deserves a bright and health future</a:t>
            </a:r>
          </a:p>
        </p:txBody>
      </p:sp>
    </p:spTree>
    <p:extLst>
      <p:ext uri="{BB962C8B-B14F-4D97-AF65-F5344CB8AC3E}">
        <p14:creationId xmlns:p14="http://schemas.microsoft.com/office/powerpoint/2010/main" val="885315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146050"/>
            <a:ext cx="12192000" cy="2749551"/>
            <a:chOff x="457200" y="146050"/>
            <a:chExt cx="8229600" cy="2159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/>
            <p:cNvSpPr/>
            <p:nvPr userDrawn="1"/>
          </p:nvSpPr>
          <p:spPr>
            <a:xfrm>
              <a:off x="457200" y="146050"/>
              <a:ext cx="6781800" cy="215900"/>
            </a:xfrm>
            <a:prstGeom prst="rect">
              <a:avLst/>
            </a:prstGeom>
            <a:solidFill>
              <a:srgbClr val="786A65"/>
            </a:solidFill>
            <a:ln>
              <a:solidFill>
                <a:srgbClr val="786A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8305800" y="146050"/>
              <a:ext cx="381000" cy="215900"/>
            </a:xfrm>
            <a:prstGeom prst="rect">
              <a:avLst/>
            </a:prstGeom>
            <a:solidFill>
              <a:srgbClr val="003DA5"/>
            </a:solidFill>
            <a:ln>
              <a:solidFill>
                <a:srgbClr val="003D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7156450" y="146050"/>
              <a:ext cx="1301750" cy="215900"/>
            </a:xfrm>
            <a:prstGeom prst="rect">
              <a:avLst/>
            </a:prstGeom>
            <a:solidFill>
              <a:srgbClr val="DA291C"/>
            </a:solidFill>
            <a:ln>
              <a:solidFill>
                <a:srgbClr val="DA29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756" y="957263"/>
            <a:ext cx="10972800" cy="563563"/>
          </a:xfrm>
          <a:ln>
            <a:noFill/>
          </a:ln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5181602" y="3352800"/>
            <a:ext cx="6445956" cy="457200"/>
          </a:xfrm>
        </p:spPr>
        <p:txBody>
          <a:bodyPr>
            <a:normAutofit/>
          </a:bodyPr>
          <a:lstStyle>
            <a:lvl1pPr marL="0" indent="0" algn="r">
              <a:buNone/>
              <a:defRPr sz="1867" b="1" i="1" baseline="0"/>
            </a:lvl1pPr>
          </a:lstStyle>
          <a:p>
            <a:pPr lvl="0"/>
            <a:r>
              <a:rPr lang="en-US" dirty="0"/>
              <a:t>Click to edit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092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6E7D180-FB34-495F-9C96-241E9EA90DDD}" type="datetimeFigureOut">
              <a:rPr lang="en-US" smtClean="0"/>
              <a:t>12/15/2016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0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5733" y="152400"/>
            <a:ext cx="109728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Subhead One</a:t>
            </a:r>
          </a:p>
          <a:p>
            <a:pPr lvl="1"/>
            <a:r>
              <a:rPr lang="en-US" dirty="0"/>
              <a:t>Secondary text bullet</a:t>
            </a:r>
          </a:p>
          <a:p>
            <a:pPr lvl="1"/>
            <a:r>
              <a:rPr lang="en-US" dirty="0"/>
              <a:t>Secondary text bullet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50535"/>
            <a:ext cx="2844800" cy="2709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8C442-49BE-49E8-BCCA-9D1F6666BE19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92667" y="762002"/>
            <a:ext cx="10972800" cy="45719"/>
            <a:chOff x="431800" y="152400"/>
            <a:chExt cx="8229600" cy="10795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Rectangle 15"/>
            <p:cNvSpPr/>
            <p:nvPr/>
          </p:nvSpPr>
          <p:spPr>
            <a:xfrm>
              <a:off x="431800" y="152400"/>
              <a:ext cx="6381750" cy="107950"/>
            </a:xfrm>
            <a:prstGeom prst="rect">
              <a:avLst/>
            </a:prstGeom>
            <a:solidFill>
              <a:srgbClr val="786A65"/>
            </a:solidFill>
            <a:ln>
              <a:solidFill>
                <a:srgbClr val="786A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943600" y="152400"/>
              <a:ext cx="2489200" cy="107950"/>
            </a:xfrm>
            <a:prstGeom prst="rect">
              <a:avLst/>
            </a:prstGeom>
            <a:solidFill>
              <a:srgbClr val="DA291C"/>
            </a:solidFill>
            <a:ln>
              <a:solidFill>
                <a:srgbClr val="DA29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708900" y="152400"/>
              <a:ext cx="952500" cy="107950"/>
            </a:xfrm>
            <a:prstGeom prst="rect">
              <a:avLst/>
            </a:prstGeom>
            <a:solidFill>
              <a:srgbClr val="003DA5"/>
            </a:solidFill>
            <a:ln>
              <a:solidFill>
                <a:srgbClr val="003D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403" y="5791200"/>
            <a:ext cx="1532128" cy="87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5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1219170" rtl="0" eaLnBrk="1" latinLnBrk="0" hangingPunct="1">
        <a:spcBef>
          <a:spcPct val="0"/>
        </a:spcBef>
        <a:buNone/>
        <a:defRPr sz="3733" b="1" kern="1200">
          <a:solidFill>
            <a:srgbClr val="786A65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Clr>
          <a:srgbClr val="786A65"/>
        </a:buClr>
        <a:buSzPct val="140000"/>
        <a:buFont typeface="Arial" panose="020B0604020202020204" pitchFamily="34" charset="0"/>
        <a:buChar char="•"/>
        <a:defRPr sz="3200" b="1" kern="1200">
          <a:solidFill>
            <a:schemeClr val="tx1">
              <a:lumMod val="85000"/>
              <a:lumOff val="15000"/>
            </a:schemeClr>
          </a:solidFill>
          <a:latin typeface="Corbel" panose="020B0503020204020204" pitchFamily="34" charset="0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Clr>
          <a:srgbClr val="DA291C"/>
        </a:buClr>
        <a:buFont typeface="Courier New" panose="02070309020205020404" pitchFamily="49" charset="0"/>
        <a:buChar char="o"/>
        <a:defRPr sz="2667" kern="1200" baseline="0">
          <a:solidFill>
            <a:schemeClr val="tx1">
              <a:lumMod val="85000"/>
              <a:lumOff val="15000"/>
            </a:schemeClr>
          </a:solidFill>
          <a:latin typeface="Corbel" panose="020B0503020204020204" pitchFamily="34" charset="0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Clr>
          <a:srgbClr val="003DA5"/>
        </a:buClr>
        <a:buFont typeface="Arial" panose="020B0604020202020204" pitchFamily="34" charset="0"/>
        <a:buChar char="•"/>
        <a:defRPr sz="2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abm-website-assets.s3.amazonaws.com/laboratoryequipment.com/s3fs-public/shutterstock_240701866.jpg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Diabetes Dashboard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68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64123" y="1870844"/>
            <a:ext cx="5593237" cy="366269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524" y="1498280"/>
            <a:ext cx="10972800" cy="94645"/>
          </a:xfrm>
        </p:spPr>
        <p:txBody>
          <a:bodyPr>
            <a:noAutofit/>
          </a:bodyPr>
          <a:lstStyle/>
          <a:p>
            <a:r>
              <a:rPr lang="en-US" sz="2800" b="1" dirty="0"/>
              <a:t>We closely manage the care of our pediatric patients with Type 1 or Type 2 diabetes.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4124" y="2332037"/>
            <a:ext cx="5384800" cy="4525963"/>
          </a:xfrm>
        </p:spPr>
        <p:txBody>
          <a:bodyPr/>
          <a:lstStyle/>
          <a:p>
            <a:pPr marL="0" lvl="0" indent="0">
              <a:buNone/>
            </a:pPr>
            <a:r>
              <a:rPr lang="en-US" sz="2200" b="1" dirty="0">
                <a:latin typeface="Corbel" panose="020B0503020204020204" pitchFamily="34" charset="0"/>
              </a:rPr>
              <a:t>Insulin as a treatment:</a:t>
            </a:r>
            <a:endParaRPr lang="en-US" sz="2200" dirty="0">
              <a:latin typeface="Corbel" panose="020B0503020204020204" pitchFamily="34" charset="0"/>
            </a:endParaRPr>
          </a:p>
          <a:p>
            <a:pPr lvl="1"/>
            <a:r>
              <a:rPr lang="en-US" sz="2200" b="1" dirty="0">
                <a:latin typeface="Corbel" panose="020B0503020204020204" pitchFamily="34" charset="0"/>
              </a:rPr>
              <a:t>Internationally recognized as high risk and potentially lethal med. </a:t>
            </a:r>
            <a:endParaRPr lang="en-US" sz="2200" dirty="0">
              <a:latin typeface="Corbel" panose="020B0503020204020204" pitchFamily="34" charset="0"/>
            </a:endParaRPr>
          </a:p>
          <a:p>
            <a:pPr lvl="1"/>
            <a:r>
              <a:rPr lang="en-US" sz="2200" b="1" dirty="0">
                <a:latin typeface="Corbel" panose="020B0503020204020204" pitchFamily="34" charset="0"/>
              </a:rPr>
              <a:t>Requires a complex therapy regime, with dosage amounts personalized to patient and varying throughout day</a:t>
            </a:r>
            <a:r>
              <a:rPr lang="en-US" b="1" dirty="0">
                <a:latin typeface="Corbel" panose="020B0503020204020204" pitchFamily="34" charset="0"/>
              </a:rPr>
              <a:t>.</a:t>
            </a:r>
            <a:endParaRPr lang="en-US" dirty="0">
              <a:latin typeface="Corbel" panose="020B0503020204020204" pitchFamily="34" charset="0"/>
            </a:endParaRPr>
          </a:p>
          <a:p>
            <a:endParaRPr lang="en-US" dirty="0"/>
          </a:p>
        </p:txBody>
      </p:sp>
      <p:pic>
        <p:nvPicPr>
          <p:cNvPr id="6" name="Picture 6" descr="http://www.laboratoryequipment.com/sites/laboratoryequipment.com/files/shutterstock_240701866.jpg">
            <a:hlinkClick r:id="rId2"/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592" y="2028083"/>
            <a:ext cx="4407737" cy="2944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27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Diabetes Dashboard – an EHR application</a:t>
            </a:r>
          </a:p>
        </p:txBody>
      </p:sp>
      <p:pic>
        <p:nvPicPr>
          <p:cNvPr id="6" name="Picture 2" descr="http://childrensbrand.org/images/phocagallery/connecting_and_caring/thumbs/phoca_thumb_l_141213_9532_29021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371" y="2291556"/>
            <a:ext cx="2817942" cy="1875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314850" y="1659714"/>
            <a:ext cx="4150241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</a:rPr>
              <a:t>Increased efficiency for providers</a:t>
            </a:r>
          </a:p>
          <a:p>
            <a:r>
              <a:rPr lang="en-US" sz="1050" b="1" i="1" dirty="0">
                <a:latin typeface="Calibri" panose="020F0502020204030204" pitchFamily="34" charset="0"/>
              </a:rPr>
              <a:t>A comprehensive view eliminates need to scroll through the EHR, saving providers time and effort.</a:t>
            </a:r>
            <a:endParaRPr lang="en-US" sz="1000" i="1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</a:rPr>
              <a:t>Pulls lab results most relevant to diabetes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</a:rPr>
              <a:t>Provides longitudinal view of patient blood glucoses from multiple 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</a:rPr>
              <a:t>Provides medication orders by insulin type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53073" y="4682220"/>
            <a:ext cx="4012018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</a:rPr>
              <a:t>Improved safety for patients</a:t>
            </a:r>
            <a:endParaRPr lang="en-US" dirty="0">
              <a:latin typeface="Calibri" panose="020F0502020204030204" pitchFamily="34" charset="0"/>
            </a:endParaRPr>
          </a:p>
          <a:p>
            <a:r>
              <a:rPr lang="en-US" sz="1200" b="1" i="1" dirty="0">
                <a:latin typeface="Calibri" panose="020F0502020204030204" pitchFamily="34" charset="0"/>
              </a:rPr>
              <a:t>With development by diabetes experts and front-end users, the application aligns with our culture of safety.</a:t>
            </a:r>
          </a:p>
          <a:p>
            <a:r>
              <a:rPr lang="en-US" sz="1600" dirty="0">
                <a:latin typeface="Calibri" panose="020F0502020204030204" pitchFamily="34" charset="0"/>
              </a:rPr>
              <a:t>Features an easy-to-use insulin dosage calculator for blood glucose correction &amp; carbohydrates, customized with input values specific to patient</a:t>
            </a:r>
          </a:p>
        </p:txBody>
      </p:sp>
      <p:pic>
        <p:nvPicPr>
          <p:cNvPr id="9" name="Picture 1" descr="Images_Time_Efficiency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519" y="2291556"/>
            <a:ext cx="1713644" cy="171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AB00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3722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412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4" y="95796"/>
            <a:ext cx="9905998" cy="734794"/>
          </a:xfrm>
        </p:spPr>
        <p:txBody>
          <a:bodyPr/>
          <a:lstStyle/>
          <a:p>
            <a:r>
              <a:rPr lang="en-US" b="1" dirty="0"/>
              <a:t>Diabetes Dashboard – Overview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05722" y="817786"/>
            <a:ext cx="101361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</a:rPr>
              <a:t>Three major components help providers ensure and manage the safety of inpatients with diabetes</a:t>
            </a:r>
            <a:r>
              <a:rPr lang="en-US" sz="3200" b="1" dirty="0">
                <a:latin typeface="Calibri" panose="020F0502020204030204" pitchFamily="34" charset="0"/>
              </a:rPr>
              <a:t>.</a:t>
            </a:r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936" y="2881424"/>
            <a:ext cx="6744372" cy="30731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Down Arrow 6"/>
          <p:cNvSpPr/>
          <p:nvPr/>
        </p:nvSpPr>
        <p:spPr>
          <a:xfrm>
            <a:off x="2536274" y="2557865"/>
            <a:ext cx="381471" cy="423443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6173816" y="2375804"/>
            <a:ext cx="368301" cy="524746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 rot="10800000">
            <a:off x="3303468" y="5735961"/>
            <a:ext cx="420120" cy="400887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797856" y="2304370"/>
            <a:ext cx="1858309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Blood glucose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2243" y="2230320"/>
            <a:ext cx="1858309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Diabetes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997" y="6136848"/>
            <a:ext cx="2400337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Insulin medication orders</a:t>
            </a:r>
          </a:p>
        </p:txBody>
      </p:sp>
    </p:spTree>
    <p:extLst>
      <p:ext uri="{BB962C8B-B14F-4D97-AF65-F5344CB8AC3E}">
        <p14:creationId xmlns:p14="http://schemas.microsoft.com/office/powerpoint/2010/main" val="399206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51" y="23313"/>
            <a:ext cx="9905998" cy="826234"/>
          </a:xfrm>
        </p:spPr>
        <p:txBody>
          <a:bodyPr/>
          <a:lstStyle/>
          <a:p>
            <a:r>
              <a:rPr lang="en-US" b="1" dirty="0"/>
              <a:t>Blood Glucose (BG) Graph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745" y="1805510"/>
            <a:ext cx="6934200" cy="4400550"/>
          </a:xfrm>
        </p:spPr>
      </p:pic>
      <p:sp>
        <p:nvSpPr>
          <p:cNvPr id="4" name="Rectangle 3"/>
          <p:cNvSpPr/>
          <p:nvPr/>
        </p:nvSpPr>
        <p:spPr>
          <a:xfrm>
            <a:off x="1024128" y="1168201"/>
            <a:ext cx="84316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b="1" dirty="0">
                <a:latin typeface="Corbel" panose="020B0503020204020204" pitchFamily="34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794358"/>
            <a:ext cx="102382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</a:rPr>
              <a:t>Displayed in timeline format, overlaid with blood glucose graph collected from multiple sources.</a:t>
            </a:r>
          </a:p>
          <a:p>
            <a:r>
              <a:rPr lang="en-US" sz="2800" b="1" dirty="0">
                <a:latin typeface="Corbel" panose="020B05030202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6969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64" y="76477"/>
            <a:ext cx="9905998" cy="798802"/>
          </a:xfrm>
        </p:spPr>
        <p:txBody>
          <a:bodyPr/>
          <a:lstStyle/>
          <a:p>
            <a:r>
              <a:rPr lang="en-US" b="1" dirty="0"/>
              <a:t>Diabetes Labs </a:t>
            </a:r>
            <a:endParaRPr lang="en-US" dirty="0"/>
          </a:p>
        </p:txBody>
      </p:sp>
      <p:pic>
        <p:nvPicPr>
          <p:cNvPr id="5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249" y="1956294"/>
            <a:ext cx="7466921" cy="4015747"/>
          </a:xfrm>
        </p:spPr>
      </p:pic>
      <p:sp>
        <p:nvSpPr>
          <p:cNvPr id="4" name="Rectangle 3"/>
          <p:cNvSpPr/>
          <p:nvPr/>
        </p:nvSpPr>
        <p:spPr>
          <a:xfrm>
            <a:off x="835152" y="1125297"/>
            <a:ext cx="86160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latin typeface="Corbel" panose="020B0503020204020204" pitchFamily="34" charset="0"/>
              </a:rPr>
              <a:t>Component allows for relevant POCT + Lab to be visible all in one place. </a:t>
            </a:r>
          </a:p>
        </p:txBody>
      </p:sp>
    </p:spTree>
    <p:extLst>
      <p:ext uri="{BB962C8B-B14F-4D97-AF65-F5344CB8AC3E}">
        <p14:creationId xmlns:p14="http://schemas.microsoft.com/office/powerpoint/2010/main" val="3698092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3343"/>
            <a:ext cx="9905998" cy="6524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Insulin Therapy View </a:t>
            </a:r>
            <a:endParaRPr lang="en-US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68" y="1889146"/>
            <a:ext cx="10073646" cy="3842352"/>
          </a:xfrm>
        </p:spPr>
      </p:pic>
      <p:sp>
        <p:nvSpPr>
          <p:cNvPr id="5" name="Rectangle 4"/>
          <p:cNvSpPr/>
          <p:nvPr/>
        </p:nvSpPr>
        <p:spPr>
          <a:xfrm>
            <a:off x="883920" y="755841"/>
            <a:ext cx="9893594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rbel" panose="020B0503020204020204" pitchFamily="34" charset="0"/>
              </a:rPr>
              <a:t>Proprietary algorithm filters medication orders and categorizes the orders into Basal, Bolus, and Oral </a:t>
            </a:r>
            <a:r>
              <a:rPr lang="en-US" sz="2400" b="1" dirty="0" err="1">
                <a:latin typeface="Corbel" panose="020B0503020204020204" pitchFamily="34" charset="0"/>
              </a:rPr>
              <a:t>Hypoglycemics</a:t>
            </a:r>
            <a:r>
              <a:rPr lang="en-US" sz="2400" b="1" dirty="0">
                <a:latin typeface="Corbel" panose="020B0503020204020204" pitchFamily="34" charset="0"/>
              </a:rPr>
              <a:t> sections.</a:t>
            </a:r>
          </a:p>
          <a:p>
            <a:r>
              <a:rPr lang="en-US" sz="2800" b="1" dirty="0">
                <a:latin typeface="Corbel" panose="020B05030202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1290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671" y="125199"/>
            <a:ext cx="9905998" cy="60677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Basal/Premixed</a:t>
            </a:r>
            <a:endParaRPr lang="en-US" dirty="0"/>
          </a:p>
        </p:txBody>
      </p:sp>
      <p:pic>
        <p:nvPicPr>
          <p:cNvPr id="5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245" y="2266566"/>
            <a:ext cx="8324850" cy="2657475"/>
          </a:xfrm>
        </p:spPr>
      </p:pic>
      <p:sp>
        <p:nvSpPr>
          <p:cNvPr id="4" name="Rectangle 3"/>
          <p:cNvSpPr/>
          <p:nvPr/>
        </p:nvSpPr>
        <p:spPr>
          <a:xfrm>
            <a:off x="1397453" y="1303649"/>
            <a:ext cx="84316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</a:rPr>
              <a:t>Component displays long-acting insulin orders. </a:t>
            </a:r>
          </a:p>
        </p:txBody>
      </p:sp>
    </p:spTree>
    <p:extLst>
      <p:ext uri="{BB962C8B-B14F-4D97-AF65-F5344CB8AC3E}">
        <p14:creationId xmlns:p14="http://schemas.microsoft.com/office/powerpoint/2010/main" val="1439707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4" y="187336"/>
            <a:ext cx="9905998" cy="6524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Bolus/ Sliding Scale </a:t>
            </a:r>
            <a:endParaRPr lang="en-US" dirty="0"/>
          </a:p>
        </p:txBody>
      </p:sp>
      <p:pic>
        <p:nvPicPr>
          <p:cNvPr id="5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359" y="2745543"/>
            <a:ext cx="5461281" cy="1473276"/>
          </a:xfrm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878602" y="1609475"/>
            <a:ext cx="84316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Corbel" panose="020B0503020204020204" pitchFamily="34" charset="0"/>
              </a:rPr>
              <a:t>Component displays fast-acting insulin.</a:t>
            </a:r>
          </a:p>
        </p:txBody>
      </p:sp>
    </p:spTree>
    <p:extLst>
      <p:ext uri="{BB962C8B-B14F-4D97-AF65-F5344CB8AC3E}">
        <p14:creationId xmlns:p14="http://schemas.microsoft.com/office/powerpoint/2010/main" val="1431025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670" y="99208"/>
            <a:ext cx="9905998" cy="698218"/>
          </a:xfrm>
        </p:spPr>
        <p:txBody>
          <a:bodyPr>
            <a:normAutofit/>
          </a:bodyPr>
          <a:lstStyle/>
          <a:p>
            <a:r>
              <a:rPr lang="en-US" b="1" dirty="0"/>
              <a:t>Oral </a:t>
            </a:r>
            <a:r>
              <a:rPr lang="en-US" b="1" dirty="0" err="1"/>
              <a:t>Hypoglycemics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51" y="2318560"/>
            <a:ext cx="8543925" cy="2628900"/>
          </a:xfrm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141412" y="1168898"/>
            <a:ext cx="84316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</a:rPr>
              <a:t>Component displays oral hypoglycemic drugs ordered, along with dosage amount, date and time.</a:t>
            </a:r>
          </a:p>
        </p:txBody>
      </p:sp>
    </p:spTree>
    <p:extLst>
      <p:ext uri="{BB962C8B-B14F-4D97-AF65-F5344CB8AC3E}">
        <p14:creationId xmlns:p14="http://schemas.microsoft.com/office/powerpoint/2010/main" val="761618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670" y="167916"/>
            <a:ext cx="9905998" cy="61592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Insulin Bolus Calculator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720" y="1664526"/>
            <a:ext cx="6746887" cy="4623152"/>
          </a:xfrm>
        </p:spPr>
      </p:pic>
      <p:sp>
        <p:nvSpPr>
          <p:cNvPr id="4" name="Rectangle 3"/>
          <p:cNvSpPr/>
          <p:nvPr/>
        </p:nvSpPr>
        <p:spPr>
          <a:xfrm>
            <a:off x="1238586" y="1004993"/>
            <a:ext cx="84316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</a:rPr>
              <a:t>An easy to use insulin dosage calculator. </a:t>
            </a:r>
          </a:p>
        </p:txBody>
      </p:sp>
    </p:spTree>
    <p:extLst>
      <p:ext uri="{BB962C8B-B14F-4D97-AF65-F5344CB8AC3E}">
        <p14:creationId xmlns:p14="http://schemas.microsoft.com/office/powerpoint/2010/main" val="2417658980"/>
      </p:ext>
    </p:extLst>
  </p:cSld>
  <p:clrMapOvr>
    <a:masterClrMapping/>
  </p:clrMapOvr>
</p:sld>
</file>

<file path=ppt/theme/theme1.xml><?xml version="1.0" encoding="utf-8"?>
<a:theme xmlns:a="http://schemas.openxmlformats.org/drawingml/2006/main" name="Bear Institute PowerPoin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UC_VM_MyBearGuide v1</Template>
  <TotalTime>118</TotalTime>
  <Words>280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Courier New</vt:lpstr>
      <vt:lpstr>Bear Institute PowerPoint Template</vt:lpstr>
      <vt:lpstr>Diabetes Dashboard</vt:lpstr>
      <vt:lpstr>We closely manage the care of our pediatric patients with Type 1 or Type 2 diabetes. </vt:lpstr>
      <vt:lpstr>Diabetes Dashboard – an EHR application</vt:lpstr>
      <vt:lpstr>Diabetes Dashboard – Overview</vt:lpstr>
      <vt:lpstr>Blood Glucose (BG) Graph </vt:lpstr>
      <vt:lpstr>Diabetes Labs </vt:lpstr>
      <vt:lpstr>Insulin Therapy View </vt:lpstr>
      <vt:lpstr>Basal/Premixed</vt:lpstr>
      <vt:lpstr>Bolus/ Sliding Scale </vt:lpstr>
      <vt:lpstr>Oral Hypoglycemics</vt:lpstr>
      <vt:lpstr>Insulin Bolus Calculator</vt:lpstr>
    </vt:vector>
  </TitlesOfParts>
  <Company>Cerner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Dashboard</dc:title>
  <dc:creator>Kaur,Simranpreet</dc:creator>
  <cp:lastModifiedBy>Kaur,Simranpreet</cp:lastModifiedBy>
  <cp:revision>15</cp:revision>
  <dcterms:created xsi:type="dcterms:W3CDTF">2016-11-07T15:37:47Z</dcterms:created>
  <dcterms:modified xsi:type="dcterms:W3CDTF">2016-12-15T14:32:50Z</dcterms:modified>
</cp:coreProperties>
</file>